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3C9E6-5D44-96E4-45A3-E79CFB597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631C8-1D97-B36D-8306-BEFF384B7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E31B8-7768-45E7-C1EE-864BDB3F0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91AF-09F3-46C7-83FE-0663EEF42D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DA77C-0BEE-50A9-A0C1-AD8A1B629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BC74A-8723-0208-DB2A-E00BA90B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EC1-5AC1-46F9-B4C6-4F6EBE6A8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23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B27C-C489-B1FF-0392-D06C5C8F7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4E355-D1AB-6483-DB03-539055FD4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C7F1E-9D80-DBA2-A224-CB28B8F75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91AF-09F3-46C7-83FE-0663EEF42D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1CDD8-2E28-C116-7B99-97247A96D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EC709-310D-8E7C-531D-1FC241BB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EC1-5AC1-46F9-B4C6-4F6EBE6A8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4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D4464-8806-641C-8A88-738898636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7C46F-552E-D43C-8094-BEF0B54DD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43776-655F-0FD8-FEB2-5720B5F07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91AF-09F3-46C7-83FE-0663EEF42D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85996-F7C3-8852-42E2-B6A67575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F2293-3D2E-3485-49F1-725698D1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EC1-5AC1-46F9-B4C6-4F6EBE6A8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68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1C729-D456-4DD2-274D-D0BB02B1E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B1BED-492C-BC6C-DF00-D1E2FB2BC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D7731-A185-2D0D-D81F-BC4FC9CF5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006D1-194C-CB29-6F21-6D56B952E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91AF-09F3-46C7-83FE-0663EEF42D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3B99F-4D2D-F674-672E-36512BA0B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C095F-9903-9F69-2DDF-2F9EA97B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EC1-5AC1-46F9-B4C6-4F6EBE6A8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88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0517D-F8F8-B3B4-CD84-95AB3BE9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5EC5D-DFCA-9429-8CA2-13B732AA3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FC931-B998-569D-E861-BADCE5819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B67F7C-72B1-FD0E-A1DF-57547FFAE3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F41422-03F3-1AC9-B120-EC92D914D2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DF9ED0-C39B-B919-6D05-72295CC7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91AF-09F3-46C7-83FE-0663EEF42D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51887-08D1-C3BF-189E-65B4CA671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80014F-B316-0055-DFF4-2DB964C7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EC1-5AC1-46F9-B4C6-4F6EBE6A8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26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1CA8-140A-B86D-A635-22DA0ED1D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27E8B-F3DE-1D6C-E2FF-2E36BB37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91AF-09F3-46C7-83FE-0663EEF42D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EC4C6-A5EC-689B-5D53-6432C3E15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81CEB-0B59-F16C-2D35-0EA3980A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EC1-5AC1-46F9-B4C6-4F6EBE6A8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90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1667D2-08DD-E68B-F0A5-5CF53E5AB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91AF-09F3-46C7-83FE-0663EEF42D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73176-6EDB-6D95-6434-D7DD47D04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C13F4-38AD-052F-2BBB-A04E3C2F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EC1-5AC1-46F9-B4C6-4F6EBE6A8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20E-A4C7-8F6D-D7FD-A00CC1B89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65A8A-F958-6890-65B2-6632CF6C6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89D1C-8FA3-027A-468F-08D8DC7FB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E2C4E-1C1C-979F-740B-DD1D29B2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91AF-09F3-46C7-83FE-0663EEF42D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53E2E-181E-EC48-8557-6872389D1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C9786-1E10-20FE-5651-77D6C5655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EC1-5AC1-46F9-B4C6-4F6EBE6A8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9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F53E6-19FB-212D-8C3E-259B1F5C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26AF30-8B27-8AC9-9418-5058208B56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B5237-9496-3615-FE1B-794EEA2E7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6FE03-309E-98C7-B1DA-108253E4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91AF-09F3-46C7-83FE-0663EEF42D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9153D-CF60-1C17-C98B-7E4CD2D4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3FF90-14C6-6B97-0F17-423A485D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EC1-5AC1-46F9-B4C6-4F6EBE6A8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9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B4052-DA45-03A7-AB2B-429FAC5E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4C71C-6037-B3F7-78B7-001792D7D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CD6DA-06DA-952E-69C5-54AE2F610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91AF-09F3-46C7-83FE-0663EEF42D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D7DB6-EA76-79DC-FEC0-45009C082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1A1D0-7D68-BD1F-654D-636D3FC7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EC1-5AC1-46F9-B4C6-4F6EBE6A8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85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36AD9D-FB02-8EBD-5C66-BB505A554F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2B6ADA-D9D2-C03E-94BB-1B8C51769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18748-6D53-2F61-7209-8A24A714E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91AF-09F3-46C7-83FE-0663EEF42D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0892F-BA5E-D419-8B25-7C81FE6C0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168BC-91D7-7247-4185-F7DE30D4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EC1-5AC1-46F9-B4C6-4F6EBE6A8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9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3520BF-9EF5-43EB-CCCE-C32D4843E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D99AC-1EB6-CB2B-6EEC-280D644D8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12E24-4383-E8C5-0265-31DE3DEA8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A91AF-09F3-46C7-83FE-0663EEF42D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CE298-2203-9252-5532-AFFEADE3B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21FDD-CF32-EF58-CE1C-0C22F67DD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30EC1-5AC1-46F9-B4C6-4F6EBE6A8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6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5F45-AF67-B405-7930-A894BB2AE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b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LITERATURE REVIEW &amp; SYNTHESIS</a:t>
            </a:r>
            <a:b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 IN HEALTHCARE</a:t>
            </a:r>
            <a:b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Review of 16 Papers (2023-2026)</a:t>
            </a:r>
            <a:b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F89DA-F81A-A9A3-018C-3FD1B6C54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290646"/>
            <a:ext cx="10512552" cy="181931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Presented by:</a:t>
            </a:r>
            <a:b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Md. Abdullah Az Zahur</a:t>
            </a:r>
            <a:b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2571555</a:t>
            </a:r>
            <a:b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 July 2026</a:t>
            </a:r>
          </a:p>
        </p:txBody>
      </p:sp>
    </p:spTree>
    <p:extLst>
      <p:ext uri="{BB962C8B-B14F-4D97-AF65-F5344CB8AC3E}">
        <p14:creationId xmlns:p14="http://schemas.microsoft.com/office/powerpoint/2010/main" val="167392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5E041-A757-DACC-AE26-543CB020D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OVERVIEW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5E9B756-7A94-55E6-89E0-AC650748C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0"/>
            <a:ext cx="7065582" cy="6858000"/>
          </a:xfrm>
        </p:spPr>
        <p:txBody>
          <a:bodyPr anchor="ctr"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Papers Reviewed: 16</a:t>
            </a:r>
          </a:p>
          <a:p>
            <a:pPr marL="0" indent="0">
              <a:buNone/>
            </a:pPr>
            <a:r>
              <a:rPr lang="en-US" dirty="0"/>
              <a:t>Years: 2023-2026</a:t>
            </a:r>
          </a:p>
          <a:p>
            <a:pPr marL="0" indent="0">
              <a:buNone/>
            </a:pPr>
            <a:r>
              <a:rPr lang="en-US" dirty="0"/>
              <a:t>Publishers: IEEE, Nature, JMIR, PLOS, Frontiers, MDPI, Springer, Elsevier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Focus Areas:</a:t>
            </a:r>
          </a:p>
          <a:p>
            <a:pPr marL="0" indent="0">
              <a:buNone/>
            </a:pPr>
            <a:r>
              <a:rPr lang="en-US" dirty="0"/>
              <a:t>• Medical Imaging &amp; Diagnostics</a:t>
            </a:r>
          </a:p>
          <a:p>
            <a:pPr marL="0" indent="0">
              <a:buNone/>
            </a:pPr>
            <a:r>
              <a:rPr lang="en-US" dirty="0"/>
              <a:t>• Clinical Decision Support</a:t>
            </a:r>
          </a:p>
          <a:p>
            <a:pPr marL="0" indent="0">
              <a:buNone/>
            </a:pPr>
            <a:r>
              <a:rPr lang="en-US" dirty="0"/>
              <a:t>• Disease Prediction &amp; Prevention</a:t>
            </a:r>
          </a:p>
          <a:p>
            <a:pPr marL="0" indent="0">
              <a:buNone/>
            </a:pPr>
            <a:r>
              <a:rPr lang="en-US" dirty="0"/>
              <a:t>• Remote Patient Monitoring</a:t>
            </a:r>
          </a:p>
          <a:p>
            <a:pPr marL="0" indent="0">
              <a:buNone/>
            </a:pPr>
            <a:r>
              <a:rPr lang="en-US" dirty="0"/>
              <a:t>• Administrative Applications</a:t>
            </a:r>
          </a:p>
          <a:p>
            <a:pPr marL="0" indent="0">
              <a:buNone/>
            </a:pPr>
            <a:r>
              <a:rPr lang="en-US" dirty="0"/>
              <a:t>• Precision Medicine</a:t>
            </a:r>
          </a:p>
        </p:txBody>
      </p:sp>
    </p:spTree>
    <p:extLst>
      <p:ext uri="{BB962C8B-B14F-4D97-AF65-F5344CB8AC3E}">
        <p14:creationId xmlns:p14="http://schemas.microsoft.com/office/powerpoint/2010/main" val="2516991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7237B-A721-14E5-DC9E-646856A20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PROBLEM STATEMENT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608FD-9C2E-78CA-A9AB-0A353F822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0"/>
            <a:ext cx="7065582" cy="6858000"/>
          </a:xfrm>
        </p:spPr>
        <p:txBody>
          <a:bodyPr anchor="ctr">
            <a:normAutofit/>
          </a:bodyPr>
          <a:lstStyle/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Healthcare systems face:</a:t>
            </a:r>
          </a:p>
          <a:p>
            <a:pPr marL="0" indent="0">
              <a:buNone/>
            </a:pPr>
            <a:r>
              <a:rPr lang="en-US" sz="2400" dirty="0"/>
              <a:t>• Increasing chronic diseases</a:t>
            </a:r>
          </a:p>
          <a:p>
            <a:pPr marL="0" indent="0">
              <a:buNone/>
            </a:pPr>
            <a:r>
              <a:rPr lang="en-US" sz="2400" dirty="0"/>
              <a:t>• Clinician burnout</a:t>
            </a:r>
          </a:p>
          <a:p>
            <a:pPr marL="0" indent="0">
              <a:buNone/>
            </a:pPr>
            <a:r>
              <a:rPr lang="en-US" sz="2400" dirty="0"/>
              <a:t>• Diagnostic errors</a:t>
            </a:r>
          </a:p>
          <a:p>
            <a:pPr marL="0" indent="0">
              <a:buNone/>
            </a:pPr>
            <a:r>
              <a:rPr lang="en-US" sz="2400" dirty="0"/>
              <a:t>• Healthcare disparities</a:t>
            </a:r>
          </a:p>
          <a:p>
            <a:pPr marL="0" indent="0">
              <a:buNone/>
            </a:pPr>
            <a:r>
              <a:rPr lang="en-US" sz="2400" dirty="0"/>
              <a:t>• Data privacy concerns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AI has potential to address these challenges, BUT...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"AI works in labs, fails in clinics"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WHY?</a:t>
            </a:r>
          </a:p>
          <a:p>
            <a:pPr marL="0" indent="0">
              <a:buNone/>
            </a:pPr>
            <a:r>
              <a:rPr lang="en-US" sz="2400" dirty="0"/>
              <a:t>Implementation barriers, lack of trust, bias, explainability issues, and governance gaps.</a:t>
            </a:r>
          </a:p>
        </p:txBody>
      </p:sp>
    </p:spTree>
    <p:extLst>
      <p:ext uri="{BB962C8B-B14F-4D97-AF65-F5344CB8AC3E}">
        <p14:creationId xmlns:p14="http://schemas.microsoft.com/office/powerpoint/2010/main" val="340866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BFAF8-328F-9044-9BEE-529CDE77C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4600" dirty="0"/>
              <a:t>TAXONOMY OF AI IN HEALTHCARE</a:t>
            </a:r>
            <a:br>
              <a:rPr lang="en-US" sz="4600" dirty="0"/>
            </a:br>
            <a:endParaRPr lang="en-US" sz="4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FDDA1-5C18-2185-5744-00EB8F7FE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246185"/>
            <a:ext cx="7065582" cy="6189784"/>
          </a:xfrm>
        </p:spPr>
        <p:txBody>
          <a:bodyPr anchor="ctr">
            <a:normAutofit/>
          </a:bodyPr>
          <a:lstStyle/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                       AI IN HEALTHCARE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     │</a:t>
            </a:r>
          </a:p>
          <a:p>
            <a:pPr marL="0" indent="0">
              <a:buNone/>
            </a:pPr>
            <a:r>
              <a:rPr lang="en-US" sz="2000" dirty="0"/>
              <a:t>        ┌─────────────────┼─────────────────┐</a:t>
            </a:r>
          </a:p>
          <a:p>
            <a:pPr marL="0" indent="0">
              <a:buNone/>
            </a:pPr>
            <a:r>
              <a:rPr lang="en-US" sz="2000" dirty="0"/>
              <a:t>        │                                          │                                           │</a:t>
            </a:r>
          </a:p>
          <a:p>
            <a:pPr marL="0" indent="0">
              <a:buNone/>
            </a:pPr>
            <a:r>
              <a:rPr lang="en-US" sz="2000" dirty="0"/>
              <a:t>   Medical                        Clinical                            Disease</a:t>
            </a:r>
          </a:p>
          <a:p>
            <a:pPr marL="0" indent="0">
              <a:buNone/>
            </a:pPr>
            <a:r>
              <a:rPr lang="en-US" sz="2000" dirty="0"/>
              <a:t>   Imaging                        Decision                     Prediction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                                 Support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     │</a:t>
            </a:r>
          </a:p>
          <a:p>
            <a:pPr marL="0" indent="0">
              <a:buNone/>
            </a:pPr>
            <a:r>
              <a:rPr lang="en-US" sz="2000" dirty="0"/>
              <a:t>        ┌─────────────────┼─────────────────┐</a:t>
            </a:r>
          </a:p>
          <a:p>
            <a:pPr marL="0" indent="0">
              <a:buNone/>
            </a:pPr>
            <a:r>
              <a:rPr lang="en-US" sz="2000" dirty="0"/>
              <a:t>        │                                          │                                           │</a:t>
            </a:r>
          </a:p>
          <a:p>
            <a:pPr marL="0" indent="0">
              <a:buNone/>
            </a:pPr>
            <a:r>
              <a:rPr lang="en-US" sz="2000" dirty="0"/>
              <a:t>   Remote                   Administrative               Precision</a:t>
            </a:r>
          </a:p>
          <a:p>
            <a:pPr marL="0" indent="0">
              <a:buNone/>
            </a:pPr>
            <a:r>
              <a:rPr lang="en-US" sz="2000" dirty="0"/>
              <a:t>   Monitoring              Applications                  Medicine</a:t>
            </a:r>
          </a:p>
        </p:txBody>
      </p:sp>
    </p:spTree>
    <p:extLst>
      <p:ext uri="{BB962C8B-B14F-4D97-AF65-F5344CB8AC3E}">
        <p14:creationId xmlns:p14="http://schemas.microsoft.com/office/powerpoint/2010/main" val="526082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D26FE-EA18-B6F5-4DFA-2BA033893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4200" dirty="0"/>
              <a:t>KEY APPLICATIONS (Based on Papers)</a:t>
            </a:r>
            <a:br>
              <a:rPr lang="en-US" sz="4200" dirty="0"/>
            </a:br>
            <a:endParaRPr lang="en-US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734FA-4E19-1DEB-7850-BA4EAF60C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0"/>
            <a:ext cx="7065582" cy="6858000"/>
          </a:xfrm>
        </p:spPr>
        <p:txBody>
          <a:bodyPr anchor="ctr">
            <a:normAutofit/>
          </a:bodyPr>
          <a:lstStyle/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1. MEDICAL IMAGING</a:t>
            </a:r>
          </a:p>
          <a:p>
            <a:pPr marL="0" indent="0">
              <a:buNone/>
            </a:pPr>
            <a:r>
              <a:rPr lang="en-US" sz="2000" dirty="0"/>
              <a:t>   • Cancer detection (breast, lung, brain)</a:t>
            </a:r>
          </a:p>
          <a:p>
            <a:pPr marL="0" indent="0">
              <a:buNone/>
            </a:pPr>
            <a:r>
              <a:rPr lang="en-US" sz="2000" dirty="0"/>
              <a:t>   • COVID-19 &amp; pneumonia detection</a:t>
            </a:r>
          </a:p>
          <a:p>
            <a:pPr marL="0" indent="0">
              <a:buNone/>
            </a:pPr>
            <a:r>
              <a:rPr lang="en-US" sz="2000" dirty="0"/>
              <a:t>   • AI matches/exceeds radiologists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2. CLINICAL DECISION SUPPORT</a:t>
            </a:r>
          </a:p>
          <a:p>
            <a:pPr marL="0" indent="0">
              <a:buNone/>
            </a:pPr>
            <a:r>
              <a:rPr lang="en-US" sz="2000" dirty="0"/>
              <a:t>   • Risk stratification, mortality prediction</a:t>
            </a:r>
          </a:p>
          <a:p>
            <a:pPr marL="0" indent="0">
              <a:buNone/>
            </a:pPr>
            <a:r>
              <a:rPr lang="en-US" sz="2000" dirty="0"/>
              <a:t>   • 85% improved outcomes reported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3. DISEASE PREDICTION</a:t>
            </a:r>
          </a:p>
          <a:p>
            <a:pPr marL="0" indent="0">
              <a:buNone/>
            </a:pPr>
            <a:r>
              <a:rPr lang="en-US" sz="2000" dirty="0"/>
              <a:t>   • Heart disease, Parkinson's, Alzheimer's</a:t>
            </a:r>
          </a:p>
          <a:p>
            <a:pPr marL="0" indent="0">
              <a:buNone/>
            </a:pPr>
            <a:r>
              <a:rPr lang="en-US" sz="2000" dirty="0"/>
              <a:t>   • Early intervention enabled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4. REMOTE MONITORING</a:t>
            </a:r>
          </a:p>
          <a:p>
            <a:pPr marL="0" indent="0">
              <a:buNone/>
            </a:pPr>
            <a:r>
              <a:rPr lang="en-US" sz="2000" dirty="0"/>
              <a:t>   • Wearable sensors, vital signs tracking</a:t>
            </a:r>
          </a:p>
          <a:p>
            <a:pPr marL="0" indent="0">
              <a:buNone/>
            </a:pPr>
            <a:r>
              <a:rPr lang="en-US" sz="2000" dirty="0"/>
              <a:t>   • Reduces hospitalization</a:t>
            </a:r>
          </a:p>
        </p:txBody>
      </p:sp>
    </p:spTree>
    <p:extLst>
      <p:ext uri="{BB962C8B-B14F-4D97-AF65-F5344CB8AC3E}">
        <p14:creationId xmlns:p14="http://schemas.microsoft.com/office/powerpoint/2010/main" val="75970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9DCF-0090-7551-418A-E0044900F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4600" dirty="0"/>
              <a:t>SECURITY &amp; PRIVACY CHALLENGES</a:t>
            </a:r>
            <a:br>
              <a:rPr lang="en-US" sz="4600" dirty="0"/>
            </a:br>
            <a:endParaRPr lang="en-US" sz="4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AD763-2AFF-6894-33A1-E065911BD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0"/>
            <a:ext cx="7065582" cy="6858000"/>
          </a:xfrm>
        </p:spPr>
        <p:txBody>
          <a:bodyPr anchor="ctr">
            <a:normAutofit fontScale="925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DATA PRIVACY RISKS:</a:t>
            </a:r>
          </a:p>
          <a:p>
            <a:pPr marL="0" indent="0">
              <a:buNone/>
            </a:pPr>
            <a:r>
              <a:rPr lang="en-US" dirty="0"/>
              <a:t>• Sensitive patient data handling</a:t>
            </a:r>
          </a:p>
          <a:p>
            <a:pPr marL="0" indent="0">
              <a:buNone/>
            </a:pPr>
            <a:r>
              <a:rPr lang="en-US" dirty="0"/>
              <a:t>• Regulatory compliance (GDPR, HIPAA)</a:t>
            </a:r>
          </a:p>
          <a:p>
            <a:pPr marL="0" indent="0">
              <a:buNone/>
            </a:pPr>
            <a:r>
              <a:rPr lang="en-US" dirty="0"/>
              <a:t>• Risk of data breaches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SOLUTIONS DISCUSSED IN PAPERS: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1. FEDERATED LEARNING</a:t>
            </a:r>
          </a:p>
          <a:p>
            <a:pPr marL="0" indent="0">
              <a:buNone/>
            </a:pPr>
            <a:r>
              <a:rPr lang="en-US" dirty="0"/>
              <a:t>   → Train models without sharing raw data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DIFFERENTIAL PRIVACY</a:t>
            </a:r>
          </a:p>
          <a:p>
            <a:pPr marL="0" indent="0">
              <a:buNone/>
            </a:pPr>
            <a:r>
              <a:rPr lang="en-US" dirty="0"/>
              <a:t>   → Add noise to data to prevent re-identification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3. ENCRYPTION &amp; BLOCKCHAIN</a:t>
            </a:r>
          </a:p>
          <a:p>
            <a:pPr marL="0" indent="0">
              <a:buNone/>
            </a:pPr>
            <a:r>
              <a:rPr lang="en-US" dirty="0"/>
              <a:t>   → Secure data storage and transmission</a:t>
            </a:r>
          </a:p>
        </p:txBody>
      </p:sp>
    </p:spTree>
    <p:extLst>
      <p:ext uri="{BB962C8B-B14F-4D97-AF65-F5344CB8AC3E}">
        <p14:creationId xmlns:p14="http://schemas.microsoft.com/office/powerpoint/2010/main" val="168246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87474-A110-AAE5-D014-98E9CB7E2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4600" dirty="0"/>
              <a:t>OPEN CHALLENGES / RESEARCH GAPS</a:t>
            </a:r>
            <a:br>
              <a:rPr lang="en-US" sz="4600" dirty="0"/>
            </a:br>
            <a:endParaRPr lang="en-US" sz="4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B1324-B7D4-E48E-83BA-2381C48B1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0"/>
            <a:ext cx="7065582" cy="6858000"/>
          </a:xfrm>
        </p:spPr>
        <p:txBody>
          <a:bodyPr anchor="ctr">
            <a:normAutofit fontScale="92500" lnSpcReduction="10000"/>
          </a:bodyPr>
          <a:lstStyle/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TOP 8 RESEARCH GAPS (From 16 Papers):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1. Post-deployment surveillance (no long-term monitoring)</a:t>
            </a:r>
          </a:p>
          <a:p>
            <a:pPr marL="0" indent="0">
              <a:buNone/>
            </a:pPr>
            <a:r>
              <a:rPr lang="en-US" sz="2400" dirty="0"/>
              <a:t>2. Standardized XAI evaluation metrics</a:t>
            </a:r>
          </a:p>
          <a:p>
            <a:pPr marL="0" indent="0">
              <a:buNone/>
            </a:pPr>
            <a:r>
              <a:rPr lang="en-US" sz="2400" dirty="0"/>
              <a:t>3. Implementation frameworks for LLMs/GenAI</a:t>
            </a:r>
          </a:p>
          <a:p>
            <a:pPr marL="0" indent="0">
              <a:buNone/>
            </a:pPr>
            <a:r>
              <a:rPr lang="en-US" sz="2400" dirty="0"/>
              <a:t>4. Clinician AI literacy programs</a:t>
            </a:r>
          </a:p>
          <a:p>
            <a:pPr marL="0" indent="0">
              <a:buNone/>
            </a:pPr>
            <a:r>
              <a:rPr lang="en-US" sz="2400" dirty="0"/>
              <a:t>5. "Switch-off" criteria for failing AI</a:t>
            </a:r>
          </a:p>
          <a:p>
            <a:pPr marL="0" indent="0">
              <a:buNone/>
            </a:pPr>
            <a:r>
              <a:rPr lang="en-US" sz="2400" dirty="0"/>
              <a:t>6. Privacy-preserving cross-institutional data sharing</a:t>
            </a:r>
          </a:p>
          <a:p>
            <a:pPr marL="0" indent="0">
              <a:buNone/>
            </a:pPr>
            <a:r>
              <a:rPr lang="en-US" sz="2400" dirty="0"/>
              <a:t>7. Cost-effectiveness studies of AI</a:t>
            </a:r>
          </a:p>
          <a:p>
            <a:pPr marL="0" indent="0">
              <a:buNone/>
            </a:pPr>
            <a:r>
              <a:rPr lang="en-US" sz="2400" dirty="0"/>
              <a:t>8. Patient-centered AI development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OTHER GAPS:</a:t>
            </a:r>
          </a:p>
          <a:p>
            <a:pPr marL="0" indent="0">
              <a:buNone/>
            </a:pPr>
            <a:r>
              <a:rPr lang="en-US" sz="2400" dirty="0"/>
              <a:t>• Lack of diverse training datasets</a:t>
            </a:r>
          </a:p>
          <a:p>
            <a:pPr marL="0" indent="0">
              <a:buNone/>
            </a:pPr>
            <a:r>
              <a:rPr lang="en-US" sz="2400" dirty="0"/>
              <a:t>• Absence of prospective, multi-site validation</a:t>
            </a:r>
          </a:p>
          <a:p>
            <a:pPr marL="0" indent="0">
              <a:buNone/>
            </a:pPr>
            <a:r>
              <a:rPr lang="en-US" sz="2400" dirty="0"/>
              <a:t>• Insufficient clinician involvement in AI development</a:t>
            </a:r>
          </a:p>
        </p:txBody>
      </p:sp>
    </p:spTree>
    <p:extLst>
      <p:ext uri="{BB962C8B-B14F-4D97-AF65-F5344CB8AC3E}">
        <p14:creationId xmlns:p14="http://schemas.microsoft.com/office/powerpoint/2010/main" val="2756965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BD00-8708-CFEE-C85C-B1D57C26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CRITICAL ANALYSIS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9DA7888-C4CB-0AE6-B486-C0E5FBE95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0"/>
            <a:ext cx="7065582" cy="6857999"/>
          </a:xfrm>
        </p:spPr>
        <p:txBody>
          <a:bodyPr anchor="ctr">
            <a:normAutofit fontScale="92500" lnSpcReduction="10000"/>
          </a:bodyPr>
          <a:lstStyle/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STRENGTHS OF PAPERS:</a:t>
            </a:r>
          </a:p>
          <a:p>
            <a:pPr marL="0" indent="0">
              <a:buNone/>
            </a:pPr>
            <a:r>
              <a:rPr lang="en-US" sz="1800" dirty="0"/>
              <a:t>• Comprehensive coverage of AI applications</a:t>
            </a:r>
          </a:p>
          <a:p>
            <a:pPr marL="0" indent="0">
              <a:buNone/>
            </a:pPr>
            <a:r>
              <a:rPr lang="en-US" sz="1800" dirty="0"/>
              <a:t>• Identification of implementation barriers</a:t>
            </a:r>
          </a:p>
          <a:p>
            <a:pPr marL="0" indent="0">
              <a:buNone/>
            </a:pPr>
            <a:r>
              <a:rPr lang="en-US" sz="1800" dirty="0"/>
              <a:t>• Recognition of bias and trust issues</a:t>
            </a:r>
          </a:p>
          <a:p>
            <a:pPr marL="0" indent="0">
              <a:buNone/>
            </a:pPr>
            <a:r>
              <a:rPr lang="en-US" sz="1800" dirty="0"/>
              <a:t>• Emerging trends captured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LIMITATIONS IDENTIFIED: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Most papers focus on PLANNING barriers,</a:t>
            </a:r>
          </a:p>
          <a:p>
            <a:pPr marL="0" indent="0">
              <a:buNone/>
            </a:pPr>
            <a:r>
              <a:rPr lang="en-US" sz="1800" dirty="0"/>
              <a:t>  SUSTAINING barriers under-researched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Limited empirical validation of proposed</a:t>
            </a:r>
          </a:p>
          <a:p>
            <a:pPr marL="0" indent="0">
              <a:buNone/>
            </a:pPr>
            <a:r>
              <a:rPr lang="en-US" sz="1800" dirty="0"/>
              <a:t>  frameworks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Few papers integrate technical + human</a:t>
            </a:r>
          </a:p>
          <a:p>
            <a:pPr marL="0" indent="0">
              <a:buNone/>
            </a:pPr>
            <a:r>
              <a:rPr lang="en-US" sz="1800" dirty="0"/>
              <a:t>  perspectives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Limited focus on developing countries/</a:t>
            </a:r>
          </a:p>
          <a:p>
            <a:pPr marL="0" indent="0">
              <a:buNone/>
            </a:pPr>
            <a:r>
              <a:rPr lang="en-US" sz="1800" dirty="0"/>
              <a:t>  low-resource settings</a:t>
            </a:r>
          </a:p>
        </p:txBody>
      </p:sp>
    </p:spTree>
    <p:extLst>
      <p:ext uri="{BB962C8B-B14F-4D97-AF65-F5344CB8AC3E}">
        <p14:creationId xmlns:p14="http://schemas.microsoft.com/office/powerpoint/2010/main" val="164077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045A-0028-8124-F39C-31F3DB409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SUMMARY TABLE (KEY PAPERS)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A4E4D-1E97-32DE-31E4-E1833919E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0"/>
            <a:ext cx="7065582" cy="68580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1. Nair et al. (2024) - PLOS ONE</a:t>
            </a:r>
          </a:p>
          <a:p>
            <a:pPr marL="0" indent="0">
              <a:buNone/>
            </a:pPr>
            <a:r>
              <a:rPr lang="en-US" sz="2400" dirty="0"/>
              <a:t>   → Implementation framework (12 concepts)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2. Hasanzadeh et al. (2025) - </a:t>
            </a:r>
            <a:r>
              <a:rPr lang="en-US" sz="2400" dirty="0" err="1"/>
              <a:t>npj</a:t>
            </a:r>
            <a:r>
              <a:rPr lang="en-US" sz="2400" dirty="0"/>
              <a:t> Digital Medicine</a:t>
            </a:r>
          </a:p>
          <a:p>
            <a:pPr marL="0" indent="0">
              <a:buNone/>
            </a:pPr>
            <a:r>
              <a:rPr lang="en-US" sz="2400" dirty="0"/>
              <a:t>   → Bias lifecycle + mitigation strategies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3. </a:t>
            </a:r>
            <a:r>
              <a:rPr lang="en-US" sz="2400" dirty="0" err="1"/>
              <a:t>Steerling</a:t>
            </a:r>
            <a:r>
              <a:rPr lang="en-US" sz="2400" dirty="0"/>
              <a:t> et al. (2023) - Frontiers</a:t>
            </a:r>
          </a:p>
          <a:p>
            <a:pPr marL="0" indent="0">
              <a:buNone/>
            </a:pPr>
            <a:r>
              <a:rPr lang="en-US" sz="2400" dirty="0"/>
              <a:t>   → Trust factors (3 themes)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4. </a:t>
            </a:r>
            <a:r>
              <a:rPr lang="en-US" sz="2400" dirty="0" err="1"/>
              <a:t>Chaddad</a:t>
            </a:r>
            <a:r>
              <a:rPr lang="en-US" sz="2400" dirty="0"/>
              <a:t> et al. (2023) - Sensors</a:t>
            </a:r>
          </a:p>
          <a:p>
            <a:pPr marL="0" indent="0">
              <a:buNone/>
            </a:pPr>
            <a:r>
              <a:rPr lang="en-US" sz="2400" dirty="0"/>
              <a:t>   → XAI methods survey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5. Edara et al. (2026) - </a:t>
            </a:r>
            <a:r>
              <a:rPr lang="en-US" sz="2400" dirty="0" err="1"/>
              <a:t>medRxiv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→ 2025 trends, multimodal surge (25→144)</a:t>
            </a:r>
          </a:p>
        </p:txBody>
      </p:sp>
    </p:spTree>
    <p:extLst>
      <p:ext uri="{BB962C8B-B14F-4D97-AF65-F5344CB8AC3E}">
        <p14:creationId xmlns:p14="http://schemas.microsoft.com/office/powerpoint/2010/main" val="396151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2522-0F4A-038D-677E-EB5E1A133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4600" dirty="0"/>
              <a:t>REFERENCES (16 Papers)</a:t>
            </a:r>
            <a:br>
              <a:rPr lang="en-US" sz="4600" dirty="0"/>
            </a:br>
            <a:endParaRPr lang="en-US" sz="4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143F-FE31-7804-C47E-0898ADE26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0"/>
            <a:ext cx="7065582" cy="6858001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1. Gao et al. (2024) - Future Internet</a:t>
            </a:r>
          </a:p>
          <a:p>
            <a:pPr marL="0" indent="0">
              <a:buNone/>
            </a:pPr>
            <a:r>
              <a:rPr lang="en-US" sz="2400" dirty="0"/>
              <a:t>2. Beets et al. (2023) - JMIR</a:t>
            </a:r>
          </a:p>
          <a:p>
            <a:pPr marL="0" indent="0">
              <a:buNone/>
            </a:pPr>
            <a:r>
              <a:rPr lang="en-US" sz="2400" dirty="0"/>
              <a:t>3. Baker &amp; Xiang (2023) - IEEE COMST</a:t>
            </a:r>
          </a:p>
          <a:p>
            <a:pPr marL="0" indent="0">
              <a:buNone/>
            </a:pPr>
            <a:r>
              <a:rPr lang="en-US" sz="2400" dirty="0"/>
              <a:t>4. </a:t>
            </a:r>
            <a:r>
              <a:rPr lang="en-US" sz="2400" dirty="0" err="1"/>
              <a:t>Alowais</a:t>
            </a:r>
            <a:r>
              <a:rPr lang="en-US" sz="2400" dirty="0"/>
              <a:t> et al. (2023) - BMC Medical Education</a:t>
            </a:r>
          </a:p>
          <a:p>
            <a:pPr marL="0" indent="0">
              <a:buNone/>
            </a:pPr>
            <a:r>
              <a:rPr lang="en-US" sz="2400" dirty="0"/>
              <a:t>5. Nair et al. (2024) - PLOS ONE</a:t>
            </a:r>
          </a:p>
          <a:p>
            <a:pPr marL="0" indent="0">
              <a:buNone/>
            </a:pPr>
            <a:r>
              <a:rPr lang="en-US" sz="2400" dirty="0"/>
              <a:t>6. Ao et al. (2026) - Healthcare (MDPI)</a:t>
            </a:r>
          </a:p>
          <a:p>
            <a:pPr marL="0" indent="0">
              <a:buNone/>
            </a:pPr>
            <a:r>
              <a:rPr lang="en-US" sz="2400" dirty="0"/>
              <a:t>7. Edara et al. (2026) - </a:t>
            </a:r>
            <a:r>
              <a:rPr lang="en-US" sz="2400" dirty="0" err="1"/>
              <a:t>medRxiv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8. Al Kuwaiti et al. (2023) - J. Pers. Med.</a:t>
            </a:r>
          </a:p>
          <a:p>
            <a:pPr marL="0" indent="0">
              <a:buNone/>
            </a:pPr>
            <a:r>
              <a:rPr lang="en-US" sz="2400" dirty="0"/>
              <a:t>9. </a:t>
            </a:r>
            <a:r>
              <a:rPr lang="en-US" sz="2400" dirty="0" err="1"/>
              <a:t>Steerling</a:t>
            </a:r>
            <a:r>
              <a:rPr lang="en-US" sz="2400" dirty="0"/>
              <a:t> et al. (2023) - Frontiers Health Services</a:t>
            </a:r>
          </a:p>
          <a:p>
            <a:pPr marL="0" indent="0">
              <a:buNone/>
            </a:pPr>
            <a:r>
              <a:rPr lang="en-US" sz="2400" dirty="0"/>
              <a:t>10. </a:t>
            </a:r>
            <a:r>
              <a:rPr lang="en-US" sz="2400" dirty="0" err="1"/>
              <a:t>Chaddad</a:t>
            </a:r>
            <a:r>
              <a:rPr lang="en-US" sz="2400" dirty="0"/>
              <a:t> et al. (2023) - Sensors</a:t>
            </a:r>
          </a:p>
          <a:p>
            <a:pPr marL="0" indent="0">
              <a:buNone/>
            </a:pPr>
            <a:r>
              <a:rPr lang="en-US" sz="2400" dirty="0"/>
              <a:t>11. Sun &amp; Zhou (2023) - Frontiers Digital Health</a:t>
            </a:r>
          </a:p>
          <a:p>
            <a:pPr marL="0" indent="0">
              <a:buNone/>
            </a:pPr>
            <a:r>
              <a:rPr lang="en-US" sz="2400" dirty="0"/>
              <a:t>12. Abdelhalim et al. (2022) - Frontiers Genetics</a:t>
            </a:r>
          </a:p>
          <a:p>
            <a:pPr marL="0" indent="0">
              <a:buNone/>
            </a:pPr>
            <a:r>
              <a:rPr lang="en-US" sz="2400" dirty="0"/>
              <a:t>13. Saraswat et al. (2022) - IEEE Access</a:t>
            </a:r>
          </a:p>
          <a:p>
            <a:pPr marL="0" indent="0">
              <a:buNone/>
            </a:pPr>
            <a:r>
              <a:rPr lang="en-US" sz="2400" dirty="0"/>
              <a:t>14. </a:t>
            </a:r>
            <a:r>
              <a:rPr lang="en-US" sz="2400" dirty="0" err="1"/>
              <a:t>Polevikov</a:t>
            </a:r>
            <a:r>
              <a:rPr lang="en-US" sz="2400" dirty="0"/>
              <a:t> (2023) - Clinica Chimica Acta</a:t>
            </a:r>
          </a:p>
          <a:p>
            <a:pPr marL="0" indent="0">
              <a:buNone/>
            </a:pPr>
            <a:r>
              <a:rPr lang="en-US" sz="2400" dirty="0"/>
              <a:t>15. Hasanzadeh et al. (2025) - </a:t>
            </a:r>
            <a:r>
              <a:rPr lang="en-US" sz="2400" dirty="0" err="1"/>
              <a:t>npj</a:t>
            </a:r>
            <a:r>
              <a:rPr lang="en-US" sz="2400" dirty="0"/>
              <a:t> Digital Medicine</a:t>
            </a:r>
          </a:p>
          <a:p>
            <a:pPr marL="0" indent="0">
              <a:buNone/>
            </a:pPr>
            <a:r>
              <a:rPr lang="en-US" sz="2400" dirty="0"/>
              <a:t>16. Tulli (2023) - Acta Informatica</a:t>
            </a:r>
          </a:p>
        </p:txBody>
      </p:sp>
    </p:spTree>
    <p:extLst>
      <p:ext uri="{BB962C8B-B14F-4D97-AF65-F5344CB8AC3E}">
        <p14:creationId xmlns:p14="http://schemas.microsoft.com/office/powerpoint/2010/main" val="467114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820</Words>
  <Application>Microsoft Office PowerPoint</Application>
  <PresentationFormat>Widescreen</PresentationFormat>
  <Paragraphs>153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 LITERATURE REVIEW &amp; SYNTHESIS AI IN HEALTHCARE  A Review of 16 Papers (2023-2026)  </vt:lpstr>
      <vt:lpstr>OVERVIEW </vt:lpstr>
      <vt:lpstr>PROBLEM STATEMENT </vt:lpstr>
      <vt:lpstr>TAXONOMY OF AI IN HEALTHCARE </vt:lpstr>
      <vt:lpstr>KEY APPLICATIONS (Based on Papers) </vt:lpstr>
      <vt:lpstr>SECURITY &amp; PRIVACY CHALLENGES </vt:lpstr>
      <vt:lpstr>OPEN CHALLENGES / RESEARCH GAPS </vt:lpstr>
      <vt:lpstr>CRITICAL ANALYSIS </vt:lpstr>
      <vt:lpstr>SUMMARY TABLE (KEY PAPERS) </vt:lpstr>
      <vt:lpstr>REFERENCES (16 Papers)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Abdullah Az Zahur Gias</dc:creator>
  <cp:lastModifiedBy>Md. Abdullah Az Zahur Gias</cp:lastModifiedBy>
  <cp:revision>17</cp:revision>
  <dcterms:created xsi:type="dcterms:W3CDTF">2026-07-11T05:24:14Z</dcterms:created>
  <dcterms:modified xsi:type="dcterms:W3CDTF">2026-07-11T09:35:24Z</dcterms:modified>
</cp:coreProperties>
</file>